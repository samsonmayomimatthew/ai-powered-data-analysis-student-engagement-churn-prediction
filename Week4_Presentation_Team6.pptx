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0" r:id="rId3"/>
    <p:sldId id="285" r:id="rId4"/>
    <p:sldId id="262" r:id="rId5"/>
    <p:sldId id="287" r:id="rId6"/>
    <p:sldId id="278" r:id="rId7"/>
    <p:sldId id="279" r:id="rId8"/>
    <p:sldId id="284" r:id="rId9"/>
    <p:sldId id="277" r:id="rId10"/>
    <p:sldId id="281" r:id="rId11"/>
    <p:sldId id="283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94660"/>
  </p:normalViewPr>
  <p:slideViewPr>
    <p:cSldViewPr snapToGrid="0">
      <p:cViewPr varScale="1">
        <p:scale>
          <a:sx n="80" d="100"/>
          <a:sy n="80" d="100"/>
        </p:scale>
        <p:origin x="2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D0A62-013D-4DC9-8F25-3499115052E1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62BD6-7FDD-41A4-97C2-69283C127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76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4C953-B696-4B83-B063-AE7EAE921D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0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41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8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8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9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0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4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5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1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8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7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D9520-5F96-4AB6-9E1C-59DD1B45E30C}" type="datetimeFigureOut">
              <a:rPr lang="en-US" smtClean="0"/>
              <a:t>2026-02-13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41DDD-14F4-4139-8368-B304825C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DGBSxWRMnDIDa0myOqc8y9ZFZ_3uLqlf/view" TargetMode="External"/><Relationship Id="rId3" Type="http://schemas.openxmlformats.org/officeDocument/2006/relationships/image" Target="../media/image7.svg"/><Relationship Id="rId7" Type="http://schemas.openxmlformats.org/officeDocument/2006/relationships/hyperlink" Target="https://drive.google.com/file/d/1JOc4dXOOylVfjYLCp_e40WYzuN2bGl9S/view?usp=sharin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lab.research.google.com/drive/1wkYQXKRyfM0l-9l3DYQ7oHtgqtOSbJ-V?usp=sharing" TargetMode="External"/><Relationship Id="rId5" Type="http://schemas.openxmlformats.org/officeDocument/2006/relationships/hyperlink" Target="https://1drv.ms/x/c/d9def56f553237c4/IQDralfyXkSGQowxJT1Hhl-aAaTKUBB2ogA_FxviRMve20o?e=NQjVpe" TargetMode="External"/><Relationship Id="rId10" Type="http://schemas.openxmlformats.org/officeDocument/2006/relationships/hyperlink" Target="https://testfutaedu-my.sharepoint.com/:u:/g/personal/matthewsmmee2020_futa_edu_ng/IQA81wm9MQJ5QLxbHk_h40sbAQAzb7luy-Q7tGjUcdPD31Y?e=mQVGML" TargetMode="External"/><Relationship Id="rId4" Type="http://schemas.openxmlformats.org/officeDocument/2006/relationships/hyperlink" Target="https://colab.research.google.com/drive/1nm_iQAauTuESdmflvfMYZ1p2-wKZrdUJ?usp=sharing" TargetMode="External"/><Relationship Id="rId9" Type="http://schemas.openxmlformats.org/officeDocument/2006/relationships/hyperlink" Target="https://drive.google.com/file/d/1DGBSxWRMnDIDa0myOqc8y9ZFZ_3uLqlf/view?usp=shari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0040" y="439025"/>
            <a:ext cx="8871022" cy="6005351"/>
            <a:chOff x="0" y="0"/>
            <a:chExt cx="3504601" cy="2372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04601" cy="2372484"/>
            </a:xfrm>
            <a:custGeom>
              <a:avLst/>
              <a:gdLst/>
              <a:ahLst/>
              <a:cxnLst/>
              <a:rect l="l" t="t" r="r" b="b"/>
              <a:pathLst>
                <a:path w="3504601" h="2372484">
                  <a:moveTo>
                    <a:pt x="29672" y="0"/>
                  </a:moveTo>
                  <a:lnTo>
                    <a:pt x="3474929" y="0"/>
                  </a:lnTo>
                  <a:cubicBezTo>
                    <a:pt x="3482798" y="0"/>
                    <a:pt x="3490345" y="3126"/>
                    <a:pt x="3495910" y="8691"/>
                  </a:cubicBezTo>
                  <a:cubicBezTo>
                    <a:pt x="3501475" y="14256"/>
                    <a:pt x="3504601" y="21803"/>
                    <a:pt x="3504601" y="29672"/>
                  </a:cubicBezTo>
                  <a:lnTo>
                    <a:pt x="3504601" y="2342812"/>
                  </a:lnTo>
                  <a:cubicBezTo>
                    <a:pt x="3504601" y="2350682"/>
                    <a:pt x="3501475" y="2358229"/>
                    <a:pt x="3495910" y="2363794"/>
                  </a:cubicBezTo>
                  <a:cubicBezTo>
                    <a:pt x="3490345" y="2369358"/>
                    <a:pt x="3482798" y="2372484"/>
                    <a:pt x="3474929" y="2372484"/>
                  </a:cubicBezTo>
                  <a:lnTo>
                    <a:pt x="29672" y="2372484"/>
                  </a:lnTo>
                  <a:cubicBezTo>
                    <a:pt x="21803" y="2372484"/>
                    <a:pt x="14256" y="2369358"/>
                    <a:pt x="8691" y="2363794"/>
                  </a:cubicBezTo>
                  <a:cubicBezTo>
                    <a:pt x="3126" y="2358229"/>
                    <a:pt x="0" y="2350682"/>
                    <a:pt x="0" y="2342812"/>
                  </a:cubicBezTo>
                  <a:lnTo>
                    <a:pt x="0" y="29672"/>
                  </a:lnTo>
                  <a:cubicBezTo>
                    <a:pt x="0" y="21803"/>
                    <a:pt x="3126" y="14256"/>
                    <a:pt x="8691" y="8691"/>
                  </a:cubicBezTo>
                  <a:cubicBezTo>
                    <a:pt x="14256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504601" cy="242010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26"/>
                </a:lnSpc>
              </a:pP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08620" y="685800"/>
            <a:ext cx="3497580" cy="5486400"/>
            <a:chOff x="0" y="0"/>
            <a:chExt cx="812800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74980"/>
            </a:xfrm>
            <a:custGeom>
              <a:avLst/>
              <a:gdLst/>
              <a:ahLst/>
              <a:cxnLst/>
              <a:rect l="l" t="t" r="r" b="b"/>
              <a:pathLst>
                <a:path w="812800" h="127498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241040"/>
                  </a:lnTo>
                  <a:cubicBezTo>
                    <a:pt x="812800" y="1259785"/>
                    <a:pt x="797604" y="1274980"/>
                    <a:pt x="778860" y="1274980"/>
                  </a:cubicBezTo>
                  <a:lnTo>
                    <a:pt x="33940" y="1274980"/>
                  </a:lnTo>
                  <a:cubicBezTo>
                    <a:pt x="15196" y="1274980"/>
                    <a:pt x="0" y="1259785"/>
                    <a:pt x="0" y="124104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2"/>
              <a:stretch>
                <a:fillRect l="-67647" r="-6764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flipH="1">
            <a:off x="5454241" y="933990"/>
            <a:ext cx="1437971" cy="684997"/>
          </a:xfrm>
          <a:custGeom>
            <a:avLst/>
            <a:gdLst/>
            <a:ahLst/>
            <a:cxnLst/>
            <a:rect l="l" t="t" r="r" b="b"/>
            <a:pathLst>
              <a:path w="2156956" h="1027496">
                <a:moveTo>
                  <a:pt x="2156956" y="0"/>
                </a:moveTo>
                <a:lnTo>
                  <a:pt x="0" y="0"/>
                </a:lnTo>
                <a:lnTo>
                  <a:pt x="0" y="1027495"/>
                </a:lnTo>
                <a:lnTo>
                  <a:pt x="2156956" y="1027495"/>
                </a:lnTo>
                <a:lnTo>
                  <a:pt x="215695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12132" y="2518835"/>
            <a:ext cx="6293255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04"/>
              </a:lnSpc>
            </a:pPr>
            <a:r>
              <a:rPr lang="en-US" sz="6000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From Sign-Up to Success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131" y="3956464"/>
            <a:ext cx="5290923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Comprehensive Internship Capstone </a:t>
            </a:r>
            <a:r>
              <a:rPr lang="en-US" sz="2000" dirty="0" smtClean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Project Consolidating 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Feature Engineering, Trend Discovery, and Predictive Churn Modeling</a:t>
            </a:r>
          </a:p>
          <a:p>
            <a:pPr>
              <a:lnSpc>
                <a:spcPts val="2519"/>
              </a:lnSpc>
            </a:pP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12132" y="5465008"/>
            <a:ext cx="137927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200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Presented By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95393" y="5465008"/>
            <a:ext cx="165884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200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Date: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2131" y="5721254"/>
            <a:ext cx="188140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2000" b="1">
                <a:solidFill>
                  <a:srgbClr val="FFFFFF"/>
                </a:solidFill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Team 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5393" y="5721254"/>
            <a:ext cx="217424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February </a:t>
            </a:r>
            <a:r>
              <a:rPr lang="en-US" sz="20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13,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16160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0" y="6172200"/>
            <a:ext cx="6367277" cy="2057400"/>
            <a:chOff x="0" y="0"/>
            <a:chExt cx="251546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5467" cy="812800"/>
            </a:xfrm>
            <a:custGeom>
              <a:avLst/>
              <a:gdLst/>
              <a:ahLst/>
              <a:cxnLst/>
              <a:rect l="l" t="t" r="r" b="b"/>
              <a:pathLst>
                <a:path w="2515467" h="812800">
                  <a:moveTo>
                    <a:pt x="23507" y="0"/>
                  </a:moveTo>
                  <a:lnTo>
                    <a:pt x="2491960" y="0"/>
                  </a:lnTo>
                  <a:cubicBezTo>
                    <a:pt x="2504943" y="0"/>
                    <a:pt x="2515467" y="10525"/>
                    <a:pt x="2515467" y="23507"/>
                  </a:cubicBezTo>
                  <a:lnTo>
                    <a:pt x="2515467" y="789293"/>
                  </a:lnTo>
                  <a:cubicBezTo>
                    <a:pt x="2515467" y="795527"/>
                    <a:pt x="2512991" y="801506"/>
                    <a:pt x="2508582" y="805915"/>
                  </a:cubicBezTo>
                  <a:cubicBezTo>
                    <a:pt x="2504174" y="810323"/>
                    <a:pt x="2498194" y="812800"/>
                    <a:pt x="2491960" y="812800"/>
                  </a:cubicBezTo>
                  <a:lnTo>
                    <a:pt x="23507" y="812800"/>
                  </a:lnTo>
                  <a:cubicBezTo>
                    <a:pt x="10525" y="812800"/>
                    <a:pt x="0" y="802275"/>
                    <a:pt x="0" y="789293"/>
                  </a:cubicBezTo>
                  <a:lnTo>
                    <a:pt x="0" y="23507"/>
                  </a:lnTo>
                  <a:cubicBezTo>
                    <a:pt x="0" y="10525"/>
                    <a:pt x="10525" y="0"/>
                    <a:pt x="23507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15467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85214" y="1167770"/>
            <a:ext cx="4600389" cy="4681296"/>
            <a:chOff x="0" y="0"/>
            <a:chExt cx="1489047" cy="6234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9047" cy="623431"/>
            </a:xfrm>
            <a:custGeom>
              <a:avLst/>
              <a:gdLst/>
              <a:ahLst/>
              <a:cxnLst/>
              <a:rect l="l" t="t" r="r" b="b"/>
              <a:pathLst>
                <a:path w="1489047" h="623431">
                  <a:moveTo>
                    <a:pt x="25804" y="0"/>
                  </a:moveTo>
                  <a:lnTo>
                    <a:pt x="1463243" y="0"/>
                  </a:lnTo>
                  <a:cubicBezTo>
                    <a:pt x="1477495" y="0"/>
                    <a:pt x="1489047" y="11553"/>
                    <a:pt x="1489047" y="25804"/>
                  </a:cubicBezTo>
                  <a:lnTo>
                    <a:pt x="1489047" y="597626"/>
                  </a:lnTo>
                  <a:cubicBezTo>
                    <a:pt x="1489047" y="611878"/>
                    <a:pt x="1477495" y="623431"/>
                    <a:pt x="1463243" y="623431"/>
                  </a:cubicBezTo>
                  <a:lnTo>
                    <a:pt x="25804" y="623431"/>
                  </a:lnTo>
                  <a:cubicBezTo>
                    <a:pt x="11553" y="623431"/>
                    <a:pt x="0" y="611878"/>
                    <a:pt x="0" y="597626"/>
                  </a:cubicBezTo>
                  <a:lnTo>
                    <a:pt x="0" y="25804"/>
                  </a:lnTo>
                  <a:cubicBezTo>
                    <a:pt x="0" y="11553"/>
                    <a:pt x="11553" y="0"/>
                    <a:pt x="25804" y="0"/>
                  </a:cubicBezTo>
                  <a:close/>
                </a:path>
              </a:pathLst>
            </a:custGeom>
            <a:blipFill>
              <a:blip r:embed="rId2"/>
              <a:stretch>
                <a:fillRect t="-29566" b="-2956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33400" y="1219690"/>
            <a:ext cx="3400490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4"/>
              </a:lnSpc>
            </a:pPr>
            <a:r>
              <a:rPr lang="en-US" sz="2800" b="1" dirty="0"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OBJECTIVE: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3400" y="3835627"/>
            <a:ext cx="5741262" cy="71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2918" lvl="1" indent="-221459">
              <a:lnSpc>
                <a:spcPts val="2871"/>
              </a:lnSpc>
              <a:buFont typeface="Arial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Data Scope: </a:t>
            </a:r>
            <a:r>
              <a:rPr lang="en-US" sz="2000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8,263 cleaned records across 27 features.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400" y="4923194"/>
            <a:ext cx="5741262" cy="71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2918" lvl="1" indent="-221459">
              <a:lnSpc>
                <a:spcPts val="2871"/>
              </a:lnSpc>
              <a:buFont typeface="Arial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Goal:</a:t>
            </a:r>
            <a:r>
              <a:rPr lang="en-US" sz="2000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 Move from "Sign-up" to "Rewarded" status by minimizing friction in the learner funnel.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3400" y="1766402"/>
            <a:ext cx="5741262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1"/>
              </a:lnSpc>
            </a:pPr>
            <a:r>
              <a:rPr lang="en-US" sz="2000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To analyze the Excelerate Talent Discovery dataset to identify patterns in learner engagement, quantify factors leading to churn, and provide actionable recommendations for platform optimization.</a:t>
            </a:r>
          </a:p>
        </p:txBody>
      </p:sp>
      <p:grpSp>
        <p:nvGrpSpPr>
          <p:cNvPr id="15" name="Group 5"/>
          <p:cNvGrpSpPr/>
          <p:nvPr/>
        </p:nvGrpSpPr>
        <p:grpSpPr>
          <a:xfrm>
            <a:off x="0" y="-5806"/>
            <a:ext cx="12192000" cy="1025521"/>
            <a:chOff x="0" y="0"/>
            <a:chExt cx="2442746" cy="548645"/>
          </a:xfrm>
        </p:grpSpPr>
        <p:sp>
          <p:nvSpPr>
            <p:cNvPr id="16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7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636576" y="277778"/>
            <a:ext cx="27486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SUMMARY</a:t>
            </a:r>
            <a:endParaRPr lang="en-GB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79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0" y="6769100"/>
            <a:ext cx="6367277" cy="1460500"/>
            <a:chOff x="0" y="0"/>
            <a:chExt cx="251546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5467" cy="812800"/>
            </a:xfrm>
            <a:custGeom>
              <a:avLst/>
              <a:gdLst/>
              <a:ahLst/>
              <a:cxnLst/>
              <a:rect l="l" t="t" r="r" b="b"/>
              <a:pathLst>
                <a:path w="2515467" h="812800">
                  <a:moveTo>
                    <a:pt x="23507" y="0"/>
                  </a:moveTo>
                  <a:lnTo>
                    <a:pt x="2491960" y="0"/>
                  </a:lnTo>
                  <a:cubicBezTo>
                    <a:pt x="2504943" y="0"/>
                    <a:pt x="2515467" y="10525"/>
                    <a:pt x="2515467" y="23507"/>
                  </a:cubicBezTo>
                  <a:lnTo>
                    <a:pt x="2515467" y="789293"/>
                  </a:lnTo>
                  <a:cubicBezTo>
                    <a:pt x="2515467" y="795527"/>
                    <a:pt x="2512991" y="801506"/>
                    <a:pt x="2508582" y="805915"/>
                  </a:cubicBezTo>
                  <a:cubicBezTo>
                    <a:pt x="2504174" y="810323"/>
                    <a:pt x="2498194" y="812800"/>
                    <a:pt x="2491960" y="812800"/>
                  </a:cubicBezTo>
                  <a:lnTo>
                    <a:pt x="23507" y="812800"/>
                  </a:lnTo>
                  <a:cubicBezTo>
                    <a:pt x="10525" y="812800"/>
                    <a:pt x="0" y="802275"/>
                    <a:pt x="0" y="789293"/>
                  </a:cubicBezTo>
                  <a:lnTo>
                    <a:pt x="0" y="23507"/>
                  </a:lnTo>
                  <a:cubicBezTo>
                    <a:pt x="0" y="10525"/>
                    <a:pt x="10525" y="0"/>
                    <a:pt x="23507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15467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5"/>
          <p:cNvGrpSpPr/>
          <p:nvPr/>
        </p:nvGrpSpPr>
        <p:grpSpPr>
          <a:xfrm>
            <a:off x="0" y="-5806"/>
            <a:ext cx="12192000" cy="1025521"/>
            <a:chOff x="0" y="0"/>
            <a:chExt cx="2442746" cy="548645"/>
          </a:xfrm>
        </p:grpSpPr>
        <p:sp>
          <p:nvSpPr>
            <p:cNvPr id="16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7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636576" y="277778"/>
            <a:ext cx="27486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SUMMARY</a:t>
            </a:r>
            <a:endParaRPr lang="en-GB" sz="44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750795"/>
              </p:ext>
            </p:extLst>
          </p:nvPr>
        </p:nvGraphicFramePr>
        <p:xfrm>
          <a:off x="760490" y="1211289"/>
          <a:ext cx="11078584" cy="516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9292"/>
                <a:gridCol w="5539292"/>
              </a:tblGrid>
              <a:tr h="828416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2283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 and Validation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Python (Pandas)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2283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Engineering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22839">
                <a:tc>
                  <a:txBody>
                    <a:bodyPr/>
                    <a:lstStyle/>
                    <a:p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 Analysis and Dashboard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Power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2283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(Scikit-Learn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Library)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2283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Forest Classifier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2283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Word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0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6891" y="6858000"/>
            <a:ext cx="6183200" cy="930853"/>
            <a:chOff x="0" y="0"/>
            <a:chExt cx="2442746" cy="548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64709" y="1588055"/>
            <a:ext cx="9156700" cy="1137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0303" lvl="1">
              <a:lnSpc>
                <a:spcPts val="2986"/>
              </a:lnSpc>
            </a:pPr>
            <a:r>
              <a:rPr lang="en-US" sz="2000" dirty="0" smtClean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Standardized </a:t>
            </a:r>
            <a:r>
              <a:rPr lang="en-US" sz="2000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8,558 raw rows into 8,263 high-quality records by resolving 3,804 missing values and fixing inconsistent institution names (e.g., Saint Louis University).</a:t>
            </a:r>
          </a:p>
          <a:p>
            <a:pPr>
              <a:lnSpc>
                <a:spcPts val="3173"/>
              </a:lnSpc>
            </a:pPr>
            <a:endParaRPr lang="en-US" sz="2000" dirty="0"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742609" y="4759539"/>
            <a:ext cx="7464032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9" lvl="1">
              <a:lnSpc>
                <a:spcPts val="2799"/>
              </a:lnSpc>
            </a:pPr>
            <a:r>
              <a:rPr lang="en-US" sz="2000" dirty="0" smtClean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Distinguishes </a:t>
            </a:r>
            <a:r>
              <a:rPr lang="en-US" sz="2000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between casual sign-ups and high-intent applicants.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42609" y="3859025"/>
            <a:ext cx="670678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9" lvl="1">
              <a:lnSpc>
                <a:spcPts val="2799"/>
              </a:lnSpc>
            </a:pPr>
            <a:r>
              <a:rPr lang="en-US" sz="2000" dirty="0" smtClean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Measures </a:t>
            </a:r>
            <a:r>
              <a:rPr lang="en-US" sz="2000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learner motivation.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42609" y="2699115"/>
            <a:ext cx="6706781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9" lvl="1">
              <a:lnSpc>
                <a:spcPts val="2799"/>
              </a:lnSpc>
            </a:pPr>
            <a:r>
              <a:rPr lang="en-US" sz="2000" dirty="0" smtClean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Captures </a:t>
            </a:r>
            <a:r>
              <a:rPr lang="en-US" sz="2000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administrative/system delays (the time between sign-up and system entry).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42609" y="5656436"/>
            <a:ext cx="9078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9" lvl="1">
              <a:lnSpc>
                <a:spcPts val="2799"/>
              </a:lnSpc>
            </a:pPr>
            <a:r>
              <a:rPr lang="en-US" sz="2000" dirty="0" smtClean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primary metric for tracking Engaged, Rewarded, Dropout, and Rejected statuses.</a:t>
            </a:r>
          </a:p>
        </p:txBody>
      </p:sp>
      <p:grpSp>
        <p:nvGrpSpPr>
          <p:cNvPr id="22" name="Group 5"/>
          <p:cNvGrpSpPr/>
          <p:nvPr/>
        </p:nvGrpSpPr>
        <p:grpSpPr>
          <a:xfrm>
            <a:off x="0" y="-25240"/>
            <a:ext cx="12192000" cy="1044955"/>
            <a:chOff x="0" y="0"/>
            <a:chExt cx="2442746" cy="548645"/>
          </a:xfrm>
        </p:grpSpPr>
        <p:sp>
          <p:nvSpPr>
            <p:cNvPr id="23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4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Group 5"/>
          <p:cNvGrpSpPr/>
          <p:nvPr/>
        </p:nvGrpSpPr>
        <p:grpSpPr>
          <a:xfrm>
            <a:off x="0" y="-5806"/>
            <a:ext cx="12192000" cy="1449210"/>
            <a:chOff x="0" y="0"/>
            <a:chExt cx="2442746" cy="548645"/>
          </a:xfrm>
        </p:grpSpPr>
        <p:sp>
          <p:nvSpPr>
            <p:cNvPr id="26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7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04800" y="-25240"/>
            <a:ext cx="105855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FEATURE ENGINEERING</a:t>
            </a:r>
            <a:endParaRPr lang="en-GB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6942" y="1502112"/>
            <a:ext cx="2040657" cy="1039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Data Cleaning</a:t>
            </a:r>
            <a:endParaRPr lang="en-GB" dirty="0"/>
          </a:p>
        </p:txBody>
      </p:sp>
      <p:sp>
        <p:nvSpPr>
          <p:cNvPr id="30" name="Rounded Rectangle 29"/>
          <p:cNvSpPr/>
          <p:nvPr/>
        </p:nvSpPr>
        <p:spPr>
          <a:xfrm>
            <a:off x="346943" y="2600988"/>
            <a:ext cx="2040656" cy="9144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Signup Entry Lag</a:t>
            </a:r>
            <a:endParaRPr lang="en-GB" dirty="0"/>
          </a:p>
        </p:txBody>
      </p:sp>
      <p:sp>
        <p:nvSpPr>
          <p:cNvPr id="31" name="Rounded Rectangle 30"/>
          <p:cNvSpPr/>
          <p:nvPr/>
        </p:nvSpPr>
        <p:spPr>
          <a:xfrm>
            <a:off x="346943" y="3670351"/>
            <a:ext cx="2028114" cy="9144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Signup </a:t>
            </a:r>
            <a:r>
              <a:rPr lang="en-US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→ Apply Delay</a:t>
            </a:r>
            <a:endParaRPr lang="en-GB" dirty="0"/>
          </a:p>
        </p:txBody>
      </p:sp>
      <p:sp>
        <p:nvSpPr>
          <p:cNvPr id="32" name="Rounded Rectangle 31"/>
          <p:cNvSpPr/>
          <p:nvPr/>
        </p:nvSpPr>
        <p:spPr>
          <a:xfrm>
            <a:off x="346942" y="4661412"/>
            <a:ext cx="2028115" cy="9144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Applied Flag</a:t>
            </a:r>
            <a:endParaRPr lang="en-GB" dirty="0"/>
          </a:p>
        </p:txBody>
      </p:sp>
      <p:sp>
        <p:nvSpPr>
          <p:cNvPr id="41" name="Rounded Rectangle 40"/>
          <p:cNvSpPr/>
          <p:nvPr/>
        </p:nvSpPr>
        <p:spPr>
          <a:xfrm>
            <a:off x="346942" y="5730775"/>
            <a:ext cx="2040657" cy="9144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Risk </a:t>
            </a:r>
            <a:r>
              <a:rPr lang="en-US" b="1" dirty="0" smtClean="0"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Outcome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744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858" y="0"/>
            <a:ext cx="12204858" cy="1388757"/>
            <a:chOff x="0" y="0"/>
            <a:chExt cx="3773015" cy="548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73015" cy="548645"/>
            </a:xfrm>
            <a:custGeom>
              <a:avLst/>
              <a:gdLst/>
              <a:ahLst/>
              <a:cxnLst/>
              <a:rect l="l" t="t" r="r" b="b"/>
              <a:pathLst>
                <a:path w="3773015" h="548645">
                  <a:moveTo>
                    <a:pt x="16213" y="0"/>
                  </a:moveTo>
                  <a:lnTo>
                    <a:pt x="3756802" y="0"/>
                  </a:lnTo>
                  <a:cubicBezTo>
                    <a:pt x="3765757" y="0"/>
                    <a:pt x="3773015" y="7259"/>
                    <a:pt x="3773015" y="16213"/>
                  </a:cubicBezTo>
                  <a:lnTo>
                    <a:pt x="3773015" y="532432"/>
                  </a:lnTo>
                  <a:cubicBezTo>
                    <a:pt x="3773015" y="541386"/>
                    <a:pt x="3765757" y="548645"/>
                    <a:pt x="3756802" y="548645"/>
                  </a:cubicBezTo>
                  <a:lnTo>
                    <a:pt x="16213" y="548645"/>
                  </a:lnTo>
                  <a:cubicBezTo>
                    <a:pt x="7259" y="548645"/>
                    <a:pt x="0" y="541386"/>
                    <a:pt x="0" y="532432"/>
                  </a:cubicBezTo>
                  <a:lnTo>
                    <a:pt x="0" y="16213"/>
                  </a:lnTo>
                  <a:cubicBezTo>
                    <a:pt x="0" y="7259"/>
                    <a:pt x="7259" y="0"/>
                    <a:pt x="16213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773015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1036189" y="5640572"/>
            <a:ext cx="1155811" cy="1155811"/>
          </a:xfrm>
          <a:custGeom>
            <a:avLst/>
            <a:gdLst/>
            <a:ahLst/>
            <a:cxnLst/>
            <a:rect l="l" t="t" r="r" b="b"/>
            <a:pathLst>
              <a:path w="1733717" h="1733717">
                <a:moveTo>
                  <a:pt x="0" y="0"/>
                </a:moveTo>
                <a:lnTo>
                  <a:pt x="1733717" y="0"/>
                </a:lnTo>
                <a:lnTo>
                  <a:pt x="1733717" y="1733716"/>
                </a:lnTo>
                <a:lnTo>
                  <a:pt x="0" y="1733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" y="5640572"/>
            <a:ext cx="1155811" cy="1155811"/>
          </a:xfrm>
          <a:custGeom>
            <a:avLst/>
            <a:gdLst/>
            <a:ahLst/>
            <a:cxnLst/>
            <a:rect l="l" t="t" r="r" b="b"/>
            <a:pathLst>
              <a:path w="1733717" h="1733717">
                <a:moveTo>
                  <a:pt x="1733717" y="0"/>
                </a:moveTo>
                <a:lnTo>
                  <a:pt x="0" y="0"/>
                </a:lnTo>
                <a:lnTo>
                  <a:pt x="0" y="1733716"/>
                </a:lnTo>
                <a:lnTo>
                  <a:pt x="1733717" y="1733716"/>
                </a:lnTo>
                <a:lnTo>
                  <a:pt x="1733717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33665" y="284009"/>
            <a:ext cx="911181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CHURN ANALYSIS DASHBOARD</a:t>
            </a:r>
            <a:endParaRPr lang="en-US" sz="4400" b="1" dirty="0">
              <a:solidFill>
                <a:srgbClr val="FFFFFF"/>
              </a:solidFill>
              <a:latin typeface="Times New Roman" panose="02020603050405020304" pitchFamily="18" charset="0"/>
              <a:ea typeface="Helvetica World Bold"/>
              <a:cs typeface="Times New Roman" panose="02020603050405020304" pitchFamily="18" charset="0"/>
              <a:sym typeface="Helvetica World Bol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4"/>
          <a:stretch/>
        </p:blipFill>
        <p:spPr>
          <a:xfrm>
            <a:off x="0" y="1672766"/>
            <a:ext cx="12037957" cy="487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7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6891" y="6400096"/>
            <a:ext cx="6183200" cy="1388757"/>
            <a:chOff x="0" y="0"/>
            <a:chExt cx="2442746" cy="548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-5806"/>
            <a:ext cx="12192000" cy="1025521"/>
            <a:chOff x="0" y="0"/>
            <a:chExt cx="2442746" cy="5486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87145" y="1684733"/>
            <a:ext cx="2150092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PEDRO FERNANDES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87145" y="3211803"/>
            <a:ext cx="166983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REESE MILLER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87145" y="4738321"/>
            <a:ext cx="166983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SAMIRA HADID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87145" y="2057412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CFO - Financial planning and analysis.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7145" y="3584482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CEO - Strategic leadership and vision.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87145" y="5110999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CEO - Strategic leadership and vision.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87145" y="4009336"/>
            <a:ext cx="215009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4"/>
              </a:lnSpc>
            </a:pPr>
            <a:r>
              <a:rPr lang="en-US" sz="1267" b="1" i="1">
                <a:solidFill>
                  <a:srgbClr val="FFFFFF"/>
                </a:solidFill>
                <a:latin typeface="Times New Roman" panose="02020603050405020304" pitchFamily="18" charset="0"/>
                <a:ea typeface="Helvetica World Italics"/>
                <a:cs typeface="Times New Roman" panose="02020603050405020304" pitchFamily="18" charset="0"/>
                <a:sym typeface="Helvetica World Italics"/>
              </a:rPr>
              <a:t>Over 20 years of experience in the industry.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87145" y="5535854"/>
            <a:ext cx="215009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4"/>
              </a:lnSpc>
            </a:pPr>
            <a:r>
              <a:rPr lang="en-US" sz="1267" b="1" i="1">
                <a:solidFill>
                  <a:srgbClr val="FFFFFF"/>
                </a:solidFill>
                <a:latin typeface="Times New Roman" panose="02020603050405020304" pitchFamily="18" charset="0"/>
                <a:ea typeface="Helvetica World Italics"/>
                <a:cs typeface="Times New Roman" panose="02020603050405020304" pitchFamily="18" charset="0"/>
                <a:sym typeface="Helvetica World Italics"/>
              </a:rPr>
              <a:t>Over 20 years of experience in the industry.</a:t>
            </a:r>
          </a:p>
        </p:txBody>
      </p:sp>
      <p:sp>
        <p:nvSpPr>
          <p:cNvPr id="22" name="Text 0"/>
          <p:cNvSpPr/>
          <p:nvPr/>
        </p:nvSpPr>
        <p:spPr>
          <a:xfrm>
            <a:off x="4058542" y="232687"/>
            <a:ext cx="4074916" cy="7340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t="9801"/>
          <a:stretch/>
        </p:blipFill>
        <p:spPr>
          <a:xfrm>
            <a:off x="4377646" y="1708403"/>
            <a:ext cx="7145950" cy="452159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33453" y="1397250"/>
            <a:ext cx="44262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Distribution </a:t>
            </a:r>
            <a:endParaRPr lang="en-GB" sz="2800" b="1" dirty="0"/>
          </a:p>
        </p:txBody>
      </p:sp>
      <p:sp>
        <p:nvSpPr>
          <p:cNvPr id="29" name="Rectangle 28"/>
          <p:cNvSpPr/>
          <p:nvPr/>
        </p:nvSpPr>
        <p:spPr>
          <a:xfrm>
            <a:off x="449353" y="2015362"/>
            <a:ext cx="3234679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This chart highlights the overall performance of the learner funnel</a:t>
            </a: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2000" kern="100" dirty="0">
              <a:solidFill>
                <a:srgbClr val="3F425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 significant proportion of learners fall into Dropout/Rejection categories</a:t>
            </a: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2000" kern="100" dirty="0">
              <a:solidFill>
                <a:srgbClr val="3F425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 gap between Sign-up and Rewarded status indicates friction in the conversion journey.</a:t>
            </a:r>
            <a:endParaRPr lang="en-GB" sz="2000" kern="100" dirty="0">
              <a:solidFill>
                <a:srgbClr val="3F425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89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6891" y="6400096"/>
            <a:ext cx="6183200" cy="1388757"/>
            <a:chOff x="0" y="0"/>
            <a:chExt cx="2442746" cy="548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87145" y="1684733"/>
            <a:ext cx="2150092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PEDRO FERNANDES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87145" y="3211803"/>
            <a:ext cx="166983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REESE MILLER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87145" y="4738321"/>
            <a:ext cx="166983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SAMIRA HADID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87145" y="2057412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CFO - Financial planning and analysis.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7145" y="3584482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CEO - Strategic leadership and vision.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87145" y="5110999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CEO - Strategic leadership and vision.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87145" y="4009336"/>
            <a:ext cx="215009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4"/>
              </a:lnSpc>
            </a:pPr>
            <a:r>
              <a:rPr lang="en-US" sz="1267" b="1" i="1">
                <a:solidFill>
                  <a:srgbClr val="FFFFFF"/>
                </a:solidFill>
                <a:latin typeface="Times New Roman" panose="02020603050405020304" pitchFamily="18" charset="0"/>
                <a:ea typeface="Helvetica World Italics"/>
                <a:cs typeface="Times New Roman" panose="02020603050405020304" pitchFamily="18" charset="0"/>
                <a:sym typeface="Helvetica World Italics"/>
              </a:rPr>
              <a:t>Over 20 years of experience in the industry.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87145" y="5535854"/>
            <a:ext cx="215009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4"/>
              </a:lnSpc>
            </a:pPr>
            <a:r>
              <a:rPr lang="en-US" sz="1267" b="1" i="1">
                <a:solidFill>
                  <a:srgbClr val="FFFFFF"/>
                </a:solidFill>
                <a:latin typeface="Times New Roman" panose="02020603050405020304" pitchFamily="18" charset="0"/>
                <a:ea typeface="Helvetica World Italics"/>
                <a:cs typeface="Times New Roman" panose="02020603050405020304" pitchFamily="18" charset="0"/>
                <a:sym typeface="Helvetica World Italics"/>
              </a:rPr>
              <a:t>Over 20 years of experience in the industry.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99" y="1738076"/>
            <a:ext cx="7539789" cy="4662020"/>
          </a:xfrm>
          <a:prstGeom prst="rect">
            <a:avLst/>
          </a:prstGeom>
        </p:spPr>
      </p:pic>
      <p:grpSp>
        <p:nvGrpSpPr>
          <p:cNvPr id="20" name="Group 5"/>
          <p:cNvGrpSpPr/>
          <p:nvPr/>
        </p:nvGrpSpPr>
        <p:grpSpPr>
          <a:xfrm>
            <a:off x="0" y="0"/>
            <a:ext cx="12192000" cy="1025521"/>
            <a:chOff x="0" y="0"/>
            <a:chExt cx="2442746" cy="548645"/>
          </a:xfrm>
        </p:grpSpPr>
        <p:sp>
          <p:nvSpPr>
            <p:cNvPr id="21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4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 0"/>
          <p:cNvSpPr/>
          <p:nvPr/>
        </p:nvSpPr>
        <p:spPr>
          <a:xfrm>
            <a:off x="197776" y="1469541"/>
            <a:ext cx="3269324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800" b="1" kern="100" dirty="0" smtClean="0">
                <a:latin typeface="Times New Roman" panose="02020603050405020304" pitchFamily="18" charset="0"/>
              </a:rPr>
              <a:t>Sign up Apply delay</a:t>
            </a:r>
            <a:r>
              <a:rPr lang="en-US" sz="2800" b="1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0"/>
          <p:cNvSpPr/>
          <p:nvPr/>
        </p:nvSpPr>
        <p:spPr>
          <a:xfrm>
            <a:off x="3845529" y="191207"/>
            <a:ext cx="4341616" cy="7340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1279" y="2506922"/>
            <a:ext cx="3524250" cy="279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Learners who apply quickly after signup show higher engagement rates</a:t>
            </a: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2000" kern="100" dirty="0">
              <a:solidFill>
                <a:srgbClr val="3F425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Delayed applications correlate strongly with eventual dropout</a:t>
            </a: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2000" kern="100" dirty="0">
              <a:solidFill>
                <a:srgbClr val="3F425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Early inactivity is an early warning signal for churn.</a:t>
            </a:r>
            <a:endParaRPr lang="en-GB" sz="2000" kern="100" dirty="0">
              <a:solidFill>
                <a:srgbClr val="3F425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6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6891" y="6400096"/>
            <a:ext cx="6183200" cy="1388757"/>
            <a:chOff x="0" y="0"/>
            <a:chExt cx="2442746" cy="5486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87145" y="1684733"/>
            <a:ext cx="2150092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PEDRO FERNANDES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87145" y="3211803"/>
            <a:ext cx="166983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REESE MILLER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87145" y="4738321"/>
            <a:ext cx="166983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33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SAMIRA HADID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87145" y="2057412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CFO - Financial planning and analysis.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7145" y="3584482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CEO - Strategic leadership and vision.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87145" y="5110999"/>
            <a:ext cx="215009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4"/>
              </a:lnSpc>
            </a:pPr>
            <a:r>
              <a:rPr lang="en-US" sz="1400" b="1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CEO - Strategic leadership and vision.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87145" y="4009336"/>
            <a:ext cx="215009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4"/>
              </a:lnSpc>
            </a:pPr>
            <a:r>
              <a:rPr lang="en-US" sz="1267" b="1" i="1">
                <a:solidFill>
                  <a:srgbClr val="FFFFFF"/>
                </a:solidFill>
                <a:latin typeface="Times New Roman" panose="02020603050405020304" pitchFamily="18" charset="0"/>
                <a:ea typeface="Helvetica World Italics"/>
                <a:cs typeface="Times New Roman" panose="02020603050405020304" pitchFamily="18" charset="0"/>
                <a:sym typeface="Helvetica World Italics"/>
              </a:rPr>
              <a:t>Over 20 years of experience in the industry.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87145" y="5535854"/>
            <a:ext cx="215009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4"/>
              </a:lnSpc>
            </a:pPr>
            <a:r>
              <a:rPr lang="en-US" sz="1267" b="1" i="1">
                <a:solidFill>
                  <a:srgbClr val="FFFFFF"/>
                </a:solidFill>
                <a:latin typeface="Times New Roman" panose="02020603050405020304" pitchFamily="18" charset="0"/>
                <a:ea typeface="Helvetica World Italics"/>
                <a:cs typeface="Times New Roman" panose="02020603050405020304" pitchFamily="18" charset="0"/>
                <a:sym typeface="Helvetica World Italics"/>
              </a:rPr>
              <a:t>Over 20 years of experience in the industry.</a:t>
            </a:r>
          </a:p>
        </p:txBody>
      </p:sp>
      <p:grpSp>
        <p:nvGrpSpPr>
          <p:cNvPr id="20" name="Group 5"/>
          <p:cNvGrpSpPr/>
          <p:nvPr/>
        </p:nvGrpSpPr>
        <p:grpSpPr>
          <a:xfrm>
            <a:off x="0" y="0"/>
            <a:ext cx="12192000" cy="1025521"/>
            <a:chOff x="0" y="0"/>
            <a:chExt cx="2442746" cy="548645"/>
          </a:xfrm>
        </p:grpSpPr>
        <p:sp>
          <p:nvSpPr>
            <p:cNvPr id="21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24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 0"/>
          <p:cNvSpPr/>
          <p:nvPr/>
        </p:nvSpPr>
        <p:spPr>
          <a:xfrm>
            <a:off x="3899792" y="291474"/>
            <a:ext cx="4392416" cy="7340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646" y="1591954"/>
            <a:ext cx="7325747" cy="46875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4963" y="1207679"/>
            <a:ext cx="54022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Distribution by signup entry lag </a:t>
            </a:r>
            <a:endParaRPr lang="en-GB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413278" y="2732947"/>
            <a:ext cx="3124200" cy="263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As signup entry lag increases, dropout probability rises </a:t>
            </a: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significantly.</a:t>
            </a:r>
          </a:p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Administrative </a:t>
            </a:r>
            <a:r>
              <a:rPr lang="en-GB" sz="2000" kern="100" dirty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processing delays directly impact retention outcomes</a:t>
            </a: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2000" kern="100" dirty="0">
              <a:solidFill>
                <a:srgbClr val="3F425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3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0"/>
            <a:ext cx="12320047" cy="1494473"/>
            <a:chOff x="0" y="0"/>
            <a:chExt cx="4917766" cy="590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17766" cy="590409"/>
            </a:xfrm>
            <a:custGeom>
              <a:avLst/>
              <a:gdLst/>
              <a:ahLst/>
              <a:cxnLst/>
              <a:rect l="l" t="t" r="r" b="b"/>
              <a:pathLst>
                <a:path w="4917766" h="590409">
                  <a:moveTo>
                    <a:pt x="0" y="0"/>
                  </a:moveTo>
                  <a:lnTo>
                    <a:pt x="4917766" y="0"/>
                  </a:lnTo>
                  <a:lnTo>
                    <a:pt x="4917766" y="590409"/>
                  </a:lnTo>
                  <a:lnTo>
                    <a:pt x="0" y="590409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17766" cy="63803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5013" y="372772"/>
            <a:ext cx="10245727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PREDICTIVE </a:t>
            </a:r>
            <a:r>
              <a:rPr 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MODELING</a:t>
            </a:r>
            <a:endParaRPr lang="en-US" sz="4400" b="1" dirty="0">
              <a:solidFill>
                <a:srgbClr val="FFFFFF"/>
              </a:solidFill>
              <a:latin typeface="Times New Roman" panose="02020603050405020304" pitchFamily="18" charset="0"/>
              <a:ea typeface="Helvetica World Bold"/>
              <a:cs typeface="Times New Roman" panose="02020603050405020304" pitchFamily="18" charset="0"/>
              <a:sym typeface="Helvetica World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426891" y="6400096"/>
            <a:ext cx="6183200" cy="1388757"/>
            <a:chOff x="0" y="0"/>
            <a:chExt cx="2442746" cy="5486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449557" y="0"/>
            <a:ext cx="1742443" cy="1723435"/>
          </a:xfrm>
          <a:custGeom>
            <a:avLst/>
            <a:gdLst/>
            <a:ahLst/>
            <a:cxnLst/>
            <a:rect l="l" t="t" r="r" b="b"/>
            <a:pathLst>
              <a:path w="2613664" h="2585152">
                <a:moveTo>
                  <a:pt x="0" y="0"/>
                </a:moveTo>
                <a:lnTo>
                  <a:pt x="2613664" y="0"/>
                </a:lnTo>
                <a:lnTo>
                  <a:pt x="2613664" y="2585152"/>
                </a:lnTo>
                <a:lnTo>
                  <a:pt x="0" y="2585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t="12338" r="5298" b="2216"/>
          <a:stretch/>
        </p:blipFill>
        <p:spPr>
          <a:xfrm>
            <a:off x="5270500" y="2110921"/>
            <a:ext cx="6571802" cy="4010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29464" y="3309596"/>
            <a:ext cx="4241800" cy="161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Multiple models were evaluated to identify the best-performing classifier.</a:t>
            </a:r>
          </a:p>
          <a:p>
            <a:pPr marL="6350" marR="0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Random </a:t>
            </a: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Forest outperformed </a:t>
            </a:r>
            <a:r>
              <a:rPr lang="en-GB" sz="2000" kern="100" dirty="0" smtClean="0">
                <a:solidFill>
                  <a:srgbClr val="3F425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alternatives in accuracy and stability.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464" y="2060783"/>
            <a:ext cx="31470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Model Comparison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34884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0"/>
            <a:ext cx="12192001" cy="1494473"/>
            <a:chOff x="0" y="0"/>
            <a:chExt cx="4917766" cy="590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17766" cy="590409"/>
            </a:xfrm>
            <a:custGeom>
              <a:avLst/>
              <a:gdLst/>
              <a:ahLst/>
              <a:cxnLst/>
              <a:rect l="l" t="t" r="r" b="b"/>
              <a:pathLst>
                <a:path w="4917766" h="590409">
                  <a:moveTo>
                    <a:pt x="0" y="0"/>
                  </a:moveTo>
                  <a:lnTo>
                    <a:pt x="4917766" y="0"/>
                  </a:lnTo>
                  <a:lnTo>
                    <a:pt x="4917766" y="590409"/>
                  </a:lnTo>
                  <a:lnTo>
                    <a:pt x="0" y="590409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17766" cy="63803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9975" y="451612"/>
            <a:ext cx="11910951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PREDICTIVE </a:t>
            </a:r>
            <a:r>
              <a:rPr 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MODELING</a:t>
            </a:r>
            <a:endParaRPr lang="en-US" sz="4400" b="1" dirty="0">
              <a:solidFill>
                <a:srgbClr val="FFFFFF"/>
              </a:solidFill>
              <a:latin typeface="Times New Roman" panose="02020603050405020304" pitchFamily="18" charset="0"/>
              <a:ea typeface="Helvetica World Bold"/>
              <a:cs typeface="Times New Roman" panose="02020603050405020304" pitchFamily="18" charset="0"/>
              <a:sym typeface="Helvetica World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-426891" y="6400096"/>
            <a:ext cx="6183200" cy="1388757"/>
            <a:chOff x="0" y="0"/>
            <a:chExt cx="2442746" cy="5486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449557" y="0"/>
            <a:ext cx="1742443" cy="1723435"/>
          </a:xfrm>
          <a:custGeom>
            <a:avLst/>
            <a:gdLst/>
            <a:ahLst/>
            <a:cxnLst/>
            <a:rect l="l" t="t" r="r" b="b"/>
            <a:pathLst>
              <a:path w="2613664" h="2585152">
                <a:moveTo>
                  <a:pt x="0" y="0"/>
                </a:moveTo>
                <a:lnTo>
                  <a:pt x="2613664" y="0"/>
                </a:lnTo>
                <a:lnTo>
                  <a:pt x="2613664" y="2585152"/>
                </a:lnTo>
                <a:lnTo>
                  <a:pt x="0" y="2585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1614294"/>
            <a:ext cx="6242590" cy="466598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9790" y="2969667"/>
            <a:ext cx="3853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Strong diagonal dominance indicates highly accurate predictions</a:t>
            </a:r>
          </a:p>
          <a:p>
            <a:r>
              <a:rPr lang="en-GB" sz="2000" dirty="0"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Very minimal misclassification across all risk categories</a:t>
            </a:r>
          </a:p>
          <a:p>
            <a:r>
              <a:rPr lang="en-GB" sz="2000" dirty="0">
                <a:latin typeface="Symbol" panose="05050102010706020507" pitchFamily="18" charset="2"/>
                <a:ea typeface="Times New Roman" panose="02020603050405020304" pitchFamily="18" charset="0"/>
              </a:rPr>
              <a:t>·</a:t>
            </a: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Model reliably distinguishes between outcome classes</a:t>
            </a: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82010" y="1614294"/>
            <a:ext cx="4872707" cy="1349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sz="2800" b="1" dirty="0"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Evaluation of Random Forest Classifier</a:t>
            </a:r>
          </a:p>
        </p:txBody>
      </p:sp>
    </p:spTree>
    <p:extLst>
      <p:ext uri="{BB962C8B-B14F-4D97-AF65-F5344CB8AC3E}">
        <p14:creationId xmlns:p14="http://schemas.microsoft.com/office/powerpoint/2010/main" val="315216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40605" y="0"/>
            <a:ext cx="12153454" cy="1388757"/>
            <a:chOff x="0" y="0"/>
            <a:chExt cx="2442746" cy="5486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 flipH="1">
            <a:off x="0" y="5764139"/>
            <a:ext cx="1155811" cy="1155811"/>
          </a:xfrm>
          <a:custGeom>
            <a:avLst/>
            <a:gdLst/>
            <a:ahLst/>
            <a:cxnLst/>
            <a:rect l="l" t="t" r="r" b="b"/>
            <a:pathLst>
              <a:path w="1733717" h="1733717">
                <a:moveTo>
                  <a:pt x="1733717" y="0"/>
                </a:moveTo>
                <a:lnTo>
                  <a:pt x="0" y="0"/>
                </a:lnTo>
                <a:lnTo>
                  <a:pt x="0" y="1733716"/>
                </a:lnTo>
                <a:lnTo>
                  <a:pt x="1733717" y="1733716"/>
                </a:lnTo>
                <a:lnTo>
                  <a:pt x="1733717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128319" y="444309"/>
            <a:ext cx="6918301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6"/>
              </a:lnSpc>
            </a:pPr>
            <a:r>
              <a:rPr lang="en-US" sz="4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Key Findings and Insights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ea typeface="Helvetica World Bold"/>
              <a:cs typeface="Times New Roman" panose="02020603050405020304" pitchFamily="18" charset="0"/>
              <a:sym typeface="Helvetica World Bold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261552" y="1721707"/>
            <a:ext cx="1124464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Signup Entry Lag is the strongest churn driver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Learners delayed more than 100 days are significantly more likely to drop 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application after signup increases success rates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Early application reflects stronger commitment and predicts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Longer program duration increases dropout risk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Extended timelines contribute to learner fatigue and disengagement.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Churn can be predicted early using the model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Random Forest identifies high-risk learners before dropout occurs.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Friction in early funnel stages drives risk outcomes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Delays between Sign-up, Application, and Engagement compound dropout probability.</a:t>
            </a:r>
          </a:p>
        </p:txBody>
      </p:sp>
      <p:grpSp>
        <p:nvGrpSpPr>
          <p:cNvPr id="33" name="Group 5"/>
          <p:cNvGrpSpPr/>
          <p:nvPr/>
        </p:nvGrpSpPr>
        <p:grpSpPr>
          <a:xfrm>
            <a:off x="7619703" y="6400096"/>
            <a:ext cx="6183200" cy="1388757"/>
            <a:chOff x="0" y="0"/>
            <a:chExt cx="2442746" cy="548645"/>
          </a:xfrm>
        </p:grpSpPr>
        <p:sp>
          <p:nvSpPr>
            <p:cNvPr id="34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35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288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8047" y="-120551"/>
            <a:ext cx="12448094" cy="2354873"/>
            <a:chOff x="0" y="-47625"/>
            <a:chExt cx="4917766" cy="930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17766" cy="607091"/>
            </a:xfrm>
            <a:custGeom>
              <a:avLst/>
              <a:gdLst/>
              <a:ahLst/>
              <a:cxnLst/>
              <a:rect l="l" t="t" r="r" b="b"/>
              <a:pathLst>
                <a:path w="4917766" h="882695">
                  <a:moveTo>
                    <a:pt x="0" y="0"/>
                  </a:moveTo>
                  <a:lnTo>
                    <a:pt x="4917766" y="0"/>
                  </a:lnTo>
                  <a:lnTo>
                    <a:pt x="4917766" y="882695"/>
                  </a:lnTo>
                  <a:lnTo>
                    <a:pt x="0" y="882695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17766" cy="93032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67443" y="581396"/>
            <a:ext cx="605711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4"/>
              </a:lnSpc>
            </a:pPr>
            <a:r>
              <a:rPr lang="en-US" sz="4267" b="1" dirty="0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RECOMMENDATIONS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619703" y="6476276"/>
            <a:ext cx="6183200" cy="1312577"/>
            <a:chOff x="0" y="0"/>
            <a:chExt cx="2442746" cy="5486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449557" y="0"/>
            <a:ext cx="1742443" cy="1723435"/>
          </a:xfrm>
          <a:custGeom>
            <a:avLst/>
            <a:gdLst/>
            <a:ahLst/>
            <a:cxnLst/>
            <a:rect l="l" t="t" r="r" b="b"/>
            <a:pathLst>
              <a:path w="2613664" h="2585152">
                <a:moveTo>
                  <a:pt x="0" y="0"/>
                </a:moveTo>
                <a:lnTo>
                  <a:pt x="2613664" y="0"/>
                </a:lnTo>
                <a:lnTo>
                  <a:pt x="2613664" y="2585152"/>
                </a:lnTo>
                <a:lnTo>
                  <a:pt x="0" y="2585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Rectangle 13"/>
          <p:cNvSpPr/>
          <p:nvPr/>
        </p:nvSpPr>
        <p:spPr>
          <a:xfrm>
            <a:off x="569773" y="2102859"/>
            <a:ext cx="1105245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signup entry lag to under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most 100 days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the strongest predictor of risk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early risk alerts from the model to trigger timely nudges and advisor outreach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immediate application after signup through a “Quick Apply”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Redesign long-duration programs with milestones to reduce learner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fatigue.</a:t>
            </a:r>
          </a:p>
        </p:txBody>
      </p:sp>
    </p:spTree>
    <p:extLst>
      <p:ext uri="{BB962C8B-B14F-4D97-AF65-F5344CB8AC3E}">
        <p14:creationId xmlns:p14="http://schemas.microsoft.com/office/powerpoint/2010/main" val="415031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8047" y="-120551"/>
            <a:ext cx="12448094" cy="2354873"/>
            <a:chOff x="0" y="-47625"/>
            <a:chExt cx="4917766" cy="930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17766" cy="882695"/>
            </a:xfrm>
            <a:custGeom>
              <a:avLst/>
              <a:gdLst/>
              <a:ahLst/>
              <a:cxnLst/>
              <a:rect l="l" t="t" r="r" b="b"/>
              <a:pathLst>
                <a:path w="4917766" h="882695">
                  <a:moveTo>
                    <a:pt x="0" y="0"/>
                  </a:moveTo>
                  <a:lnTo>
                    <a:pt x="4917766" y="0"/>
                  </a:lnTo>
                  <a:lnTo>
                    <a:pt x="4917766" y="882695"/>
                  </a:lnTo>
                  <a:lnTo>
                    <a:pt x="0" y="882695"/>
                  </a:ln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17766" cy="93032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19703" y="6400096"/>
            <a:ext cx="6183200" cy="1388757"/>
            <a:chOff x="0" y="0"/>
            <a:chExt cx="2442746" cy="5486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2746" cy="548645"/>
            </a:xfrm>
            <a:custGeom>
              <a:avLst/>
              <a:gdLst/>
              <a:ahLst/>
              <a:cxnLst/>
              <a:rect l="l" t="t" r="r" b="b"/>
              <a:pathLst>
                <a:path w="2442746" h="548645">
                  <a:moveTo>
                    <a:pt x="25042" y="0"/>
                  </a:moveTo>
                  <a:lnTo>
                    <a:pt x="2417704" y="0"/>
                  </a:lnTo>
                  <a:cubicBezTo>
                    <a:pt x="2431534" y="0"/>
                    <a:pt x="2442746" y="11212"/>
                    <a:pt x="2442746" y="25042"/>
                  </a:cubicBezTo>
                  <a:lnTo>
                    <a:pt x="2442746" y="523603"/>
                  </a:lnTo>
                  <a:cubicBezTo>
                    <a:pt x="2442746" y="530244"/>
                    <a:pt x="2440107" y="536614"/>
                    <a:pt x="2435411" y="541310"/>
                  </a:cubicBezTo>
                  <a:cubicBezTo>
                    <a:pt x="2430715" y="546006"/>
                    <a:pt x="2424345" y="548645"/>
                    <a:pt x="2417704" y="548645"/>
                  </a:cubicBezTo>
                  <a:lnTo>
                    <a:pt x="25042" y="548645"/>
                  </a:lnTo>
                  <a:cubicBezTo>
                    <a:pt x="18400" y="548645"/>
                    <a:pt x="12031" y="546006"/>
                    <a:pt x="7335" y="541310"/>
                  </a:cubicBezTo>
                  <a:cubicBezTo>
                    <a:pt x="2638" y="536614"/>
                    <a:pt x="0" y="530244"/>
                    <a:pt x="0" y="523603"/>
                  </a:cubicBezTo>
                  <a:lnTo>
                    <a:pt x="0" y="25042"/>
                  </a:lnTo>
                  <a:cubicBezTo>
                    <a:pt x="0" y="18400"/>
                    <a:pt x="2638" y="12031"/>
                    <a:pt x="7335" y="7335"/>
                  </a:cubicBezTo>
                  <a:cubicBezTo>
                    <a:pt x="12031" y="2638"/>
                    <a:pt x="18400" y="0"/>
                    <a:pt x="2504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442746" cy="59627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9969773" y="255443"/>
            <a:ext cx="1742443" cy="1723435"/>
          </a:xfrm>
          <a:custGeom>
            <a:avLst/>
            <a:gdLst/>
            <a:ahLst/>
            <a:cxnLst/>
            <a:rect l="l" t="t" r="r" b="b"/>
            <a:pathLst>
              <a:path w="2613664" h="2585152">
                <a:moveTo>
                  <a:pt x="0" y="0"/>
                </a:moveTo>
                <a:lnTo>
                  <a:pt x="2613664" y="0"/>
                </a:lnTo>
                <a:lnTo>
                  <a:pt x="2613664" y="2585152"/>
                </a:lnTo>
                <a:lnTo>
                  <a:pt x="0" y="2585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70322" y="670309"/>
            <a:ext cx="7651356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PROJECT RESOURCES &amp; DOCUMENTATION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4182" y="2234322"/>
            <a:ext cx="10266813" cy="4524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7613" lvl="1" indent="-378806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Model Training and Testing Notebook-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4"/>
              </a:rPr>
              <a:t>Click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4"/>
              </a:rPr>
              <a:t>here</a:t>
            </a:r>
            <a:endParaRPr lang="en-US" sz="2800" dirty="0" smtClean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marL="757613" lvl="1" indent="-378806">
              <a:lnSpc>
                <a:spcPct val="15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Model Evaluation Summary: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5"/>
              </a:rPr>
              <a:t>Click here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marL="757613" lvl="1" indent="-378806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Final Predictive Model -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6"/>
              </a:rPr>
              <a:t>Click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6"/>
              </a:rPr>
              <a:t>here</a:t>
            </a:r>
            <a:endParaRPr lang="en-US" sz="2800" dirty="0" smtClean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marL="757613" lvl="1" indent="-378806">
              <a:lnSpc>
                <a:spcPct val="150000"/>
              </a:lnSpc>
              <a:buFont typeface="Arial"/>
              <a:buChar char="•"/>
            </a:pPr>
            <a:r>
              <a:rPr lang="en-US" sz="2800" dirty="0"/>
              <a:t>Churn Analysis Report: </a:t>
            </a:r>
            <a:r>
              <a:rPr lang="en-US" sz="2800" u="sng" dirty="0">
                <a:hlinkClick r:id="rId7"/>
              </a:rPr>
              <a:t>click </a:t>
            </a:r>
            <a:r>
              <a:rPr lang="en-US" sz="2800" u="sng" dirty="0" smtClean="0">
                <a:hlinkClick r:id="rId7"/>
              </a:rPr>
              <a:t>here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marL="757613" lvl="1" indent="-378806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Group Presentation Slide: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8"/>
              </a:rPr>
              <a:t>Click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8"/>
              </a:rPr>
              <a:t>here</a:t>
            </a:r>
            <a:endParaRPr lang="en-US" sz="2800" dirty="0" smtClean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marL="757613" lvl="1" indent="-378806">
              <a:lnSpc>
                <a:spcPct val="15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Group Presentation Video: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9"/>
              </a:rPr>
              <a:t>Click here</a:t>
            </a:r>
            <a:endParaRPr lang="en-US" sz="2800" dirty="0" smtClean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marL="757613" lvl="1" indent="-378806">
              <a:lnSpc>
                <a:spcPct val="150000"/>
              </a:lnSpc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Power BI Dashboard Link: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  <a:hlinkClick r:id="rId10"/>
              </a:rPr>
              <a:t>Click here</a:t>
            </a:r>
            <a:endParaRPr lang="en-US" sz="2800" dirty="0" smtClean="0">
              <a:solidFill>
                <a:srgbClr val="000000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08670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0040" y="413625"/>
            <a:ext cx="8871022" cy="6005351"/>
            <a:chOff x="0" y="0"/>
            <a:chExt cx="3504601" cy="2372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04601" cy="2372484"/>
            </a:xfrm>
            <a:custGeom>
              <a:avLst/>
              <a:gdLst/>
              <a:ahLst/>
              <a:cxnLst/>
              <a:rect l="l" t="t" r="r" b="b"/>
              <a:pathLst>
                <a:path w="3504601" h="2372484">
                  <a:moveTo>
                    <a:pt x="29672" y="0"/>
                  </a:moveTo>
                  <a:lnTo>
                    <a:pt x="3474929" y="0"/>
                  </a:lnTo>
                  <a:cubicBezTo>
                    <a:pt x="3482798" y="0"/>
                    <a:pt x="3490345" y="3126"/>
                    <a:pt x="3495910" y="8691"/>
                  </a:cubicBezTo>
                  <a:cubicBezTo>
                    <a:pt x="3501475" y="14256"/>
                    <a:pt x="3504601" y="21803"/>
                    <a:pt x="3504601" y="29672"/>
                  </a:cubicBezTo>
                  <a:lnTo>
                    <a:pt x="3504601" y="2342812"/>
                  </a:lnTo>
                  <a:cubicBezTo>
                    <a:pt x="3504601" y="2350682"/>
                    <a:pt x="3501475" y="2358229"/>
                    <a:pt x="3495910" y="2363794"/>
                  </a:cubicBezTo>
                  <a:cubicBezTo>
                    <a:pt x="3490345" y="2369358"/>
                    <a:pt x="3482798" y="2372484"/>
                    <a:pt x="3474929" y="2372484"/>
                  </a:cubicBezTo>
                  <a:lnTo>
                    <a:pt x="29672" y="2372484"/>
                  </a:lnTo>
                  <a:cubicBezTo>
                    <a:pt x="21803" y="2372484"/>
                    <a:pt x="14256" y="2369358"/>
                    <a:pt x="8691" y="2363794"/>
                  </a:cubicBezTo>
                  <a:cubicBezTo>
                    <a:pt x="3126" y="2358229"/>
                    <a:pt x="0" y="2350682"/>
                    <a:pt x="0" y="2342812"/>
                  </a:cubicBezTo>
                  <a:lnTo>
                    <a:pt x="0" y="29672"/>
                  </a:lnTo>
                  <a:cubicBezTo>
                    <a:pt x="0" y="21803"/>
                    <a:pt x="3126" y="14256"/>
                    <a:pt x="8691" y="8691"/>
                  </a:cubicBezTo>
                  <a:cubicBezTo>
                    <a:pt x="14256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504601" cy="242010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26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08620" y="685800"/>
            <a:ext cx="3497580" cy="5486400"/>
            <a:chOff x="0" y="0"/>
            <a:chExt cx="812800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74980"/>
            </a:xfrm>
            <a:custGeom>
              <a:avLst/>
              <a:gdLst/>
              <a:ahLst/>
              <a:cxnLst/>
              <a:rect l="l" t="t" r="r" b="b"/>
              <a:pathLst>
                <a:path w="812800" h="127498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241040"/>
                  </a:lnTo>
                  <a:cubicBezTo>
                    <a:pt x="812800" y="1259785"/>
                    <a:pt x="797604" y="1274980"/>
                    <a:pt x="778860" y="1274980"/>
                  </a:cubicBezTo>
                  <a:lnTo>
                    <a:pt x="33940" y="1274980"/>
                  </a:lnTo>
                  <a:cubicBezTo>
                    <a:pt x="15196" y="1274980"/>
                    <a:pt x="0" y="1259785"/>
                    <a:pt x="0" y="124104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-67540" r="-6754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321413" y="2828933"/>
            <a:ext cx="3894059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16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THANK YOU FOR LISTENING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17945" y="1312548"/>
            <a:ext cx="3497580" cy="4013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Team 6</a:t>
            </a: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Richard Boadu</a:t>
            </a: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Ogochukwu Anichebe</a:t>
            </a: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Sindhuja</a:t>
            </a: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Baikadi</a:t>
            </a:r>
            <a:endParaRPr lang="en-US" sz="2400" dirty="0">
              <a:solidFill>
                <a:srgbClr val="FFFFFF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Samson Matthew.</a:t>
            </a: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Sandra Nsofor</a:t>
            </a: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Faith Pearl </a:t>
            </a: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Onyedika</a:t>
            </a:r>
            <a:r>
              <a:rPr lang="en-US" sz="2400" dirty="0" smtClean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Kenechukwu</a:t>
            </a:r>
            <a:endParaRPr lang="en-US" sz="2400" dirty="0">
              <a:solidFill>
                <a:srgbClr val="FFFFFF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Neel Mukherjee</a:t>
            </a:r>
          </a:p>
          <a:p>
            <a:pPr marL="580417" lvl="1" indent="-342917">
              <a:lnSpc>
                <a:spcPts val="3079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Lawal Ali</a:t>
            </a:r>
          </a:p>
        </p:txBody>
      </p:sp>
    </p:spTree>
    <p:extLst>
      <p:ext uri="{BB962C8B-B14F-4D97-AF65-F5344CB8AC3E}">
        <p14:creationId xmlns:p14="http://schemas.microsoft.com/office/powerpoint/2010/main" val="322612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725</Words>
  <Application>Microsoft Office PowerPoint</Application>
  <PresentationFormat>Widescreen</PresentationFormat>
  <Paragraphs>116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Calibri Light</vt:lpstr>
      <vt:lpstr>Helvetica World</vt:lpstr>
      <vt:lpstr>Helvetica World Bold</vt:lpstr>
      <vt:lpstr>Helvetica World Italics</vt:lpstr>
      <vt:lpstr>Source Sans Pro</vt:lpstr>
      <vt:lpstr>Source Sans Pro Bold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52</cp:revision>
  <dcterms:created xsi:type="dcterms:W3CDTF">2026-02-09T14:08:30Z</dcterms:created>
  <dcterms:modified xsi:type="dcterms:W3CDTF">2026-02-13T11:15:32Z</dcterms:modified>
</cp:coreProperties>
</file>