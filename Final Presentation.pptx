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3"/>
  </p:notesMasterIdLst>
  <p:sldIdLst>
    <p:sldId id="291" r:id="rId2"/>
    <p:sldId id="293" r:id="rId3"/>
    <p:sldId id="273" r:id="rId4"/>
    <p:sldId id="294" r:id="rId5"/>
    <p:sldId id="274" r:id="rId6"/>
    <p:sldId id="284" r:id="rId7"/>
    <p:sldId id="296" r:id="rId8"/>
    <p:sldId id="285" r:id="rId9"/>
    <p:sldId id="286" r:id="rId10"/>
    <p:sldId id="298" r:id="rId11"/>
    <p:sldId id="297" r:id="rId12"/>
    <p:sldId id="299" r:id="rId13"/>
    <p:sldId id="289" r:id="rId14"/>
    <p:sldId id="290" r:id="rId15"/>
    <p:sldId id="279" r:id="rId16"/>
    <p:sldId id="295" r:id="rId17"/>
    <p:sldId id="288" r:id="rId18"/>
    <p:sldId id="287" r:id="rId19"/>
    <p:sldId id="262" r:id="rId20"/>
    <p:sldId id="278" r:id="rId21"/>
    <p:sldId id="26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0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18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2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5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13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19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19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56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19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35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55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41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58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436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91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81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823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90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82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fld id="{4BDF68E2-58F2-4D09-BE8B-E3BD06533059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08581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4458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9796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1629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0262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009288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14243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012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6125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7735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52940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28142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7946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0313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85404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5740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10133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0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624D31-43A5-475A-80CF-332C9F6DCF35}" type="datetimeFigureOut">
              <a:rPr lang="en-US" smtClean="0"/>
              <a:t>2026-02-11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5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0021" y="479833"/>
            <a:ext cx="2702350" cy="4182702"/>
            <a:chOff x="0" y="0"/>
            <a:chExt cx="812800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274980"/>
            </a:xfrm>
            <a:custGeom>
              <a:avLst/>
              <a:gdLst/>
              <a:ahLst/>
              <a:cxnLst/>
              <a:rect l="l" t="t" r="r" b="b"/>
              <a:pathLst>
                <a:path w="812800" h="127498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1241040"/>
                  </a:lnTo>
                  <a:cubicBezTo>
                    <a:pt x="812800" y="1259785"/>
                    <a:pt x="797604" y="1274980"/>
                    <a:pt x="778860" y="1274980"/>
                  </a:cubicBezTo>
                  <a:lnTo>
                    <a:pt x="33940" y="1274980"/>
                  </a:lnTo>
                  <a:cubicBezTo>
                    <a:pt x="15196" y="1274980"/>
                    <a:pt x="0" y="1259785"/>
                    <a:pt x="0" y="124104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2"/>
              <a:stretch>
                <a:fillRect l="-67647" r="-67647"/>
              </a:stretch>
            </a:blipFill>
          </p:spPr>
        </p:sp>
      </p:grpSp>
      <p:grpSp>
        <p:nvGrpSpPr>
          <p:cNvPr id="2" name="Group 2"/>
          <p:cNvGrpSpPr/>
          <p:nvPr/>
        </p:nvGrpSpPr>
        <p:grpSpPr>
          <a:xfrm>
            <a:off x="488886" y="479833"/>
            <a:ext cx="6011501" cy="4182702"/>
            <a:chOff x="0" y="0"/>
            <a:chExt cx="3504601" cy="2372484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3504601" cy="242010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26"/>
                </a:lnSpc>
              </a:pPr>
              <a:endParaRPr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0"/>
              <a:ext cx="3504601" cy="2372484"/>
            </a:xfrm>
            <a:custGeom>
              <a:avLst/>
              <a:gdLst/>
              <a:ahLst/>
              <a:cxnLst/>
              <a:rect l="l" t="t" r="r" b="b"/>
              <a:pathLst>
                <a:path w="3504601" h="2372484">
                  <a:moveTo>
                    <a:pt x="29672" y="0"/>
                  </a:moveTo>
                  <a:lnTo>
                    <a:pt x="3474929" y="0"/>
                  </a:lnTo>
                  <a:cubicBezTo>
                    <a:pt x="3482798" y="0"/>
                    <a:pt x="3490345" y="3126"/>
                    <a:pt x="3495910" y="8691"/>
                  </a:cubicBezTo>
                  <a:cubicBezTo>
                    <a:pt x="3501475" y="14256"/>
                    <a:pt x="3504601" y="21803"/>
                    <a:pt x="3504601" y="29672"/>
                  </a:cubicBezTo>
                  <a:lnTo>
                    <a:pt x="3504601" y="2342812"/>
                  </a:lnTo>
                  <a:cubicBezTo>
                    <a:pt x="3504601" y="2350682"/>
                    <a:pt x="3501475" y="2358229"/>
                    <a:pt x="3495910" y="2363794"/>
                  </a:cubicBezTo>
                  <a:cubicBezTo>
                    <a:pt x="3490345" y="2369358"/>
                    <a:pt x="3482798" y="2372484"/>
                    <a:pt x="3474929" y="2372484"/>
                  </a:cubicBezTo>
                  <a:lnTo>
                    <a:pt x="29672" y="2372484"/>
                  </a:lnTo>
                  <a:cubicBezTo>
                    <a:pt x="21803" y="2372484"/>
                    <a:pt x="14256" y="2369358"/>
                    <a:pt x="8691" y="2363794"/>
                  </a:cubicBezTo>
                  <a:cubicBezTo>
                    <a:pt x="3126" y="2358229"/>
                    <a:pt x="0" y="2350682"/>
                    <a:pt x="0" y="2342812"/>
                  </a:cubicBezTo>
                  <a:lnTo>
                    <a:pt x="0" y="29672"/>
                  </a:lnTo>
                  <a:cubicBezTo>
                    <a:pt x="0" y="21803"/>
                    <a:pt x="3126" y="14256"/>
                    <a:pt x="8691" y="8691"/>
                  </a:cubicBezTo>
                  <a:cubicBezTo>
                    <a:pt x="14256" y="3126"/>
                    <a:pt x="21803" y="0"/>
                    <a:pt x="29672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</p:grpSp>
      <p:sp>
        <p:nvSpPr>
          <p:cNvPr id="7" name="TextBox 8"/>
          <p:cNvSpPr txBox="1"/>
          <p:nvPr/>
        </p:nvSpPr>
        <p:spPr>
          <a:xfrm>
            <a:off x="1124374" y="1115652"/>
            <a:ext cx="6293255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04"/>
              </a:lnSpc>
            </a:pPr>
            <a:r>
              <a:rPr lang="en-US" sz="5667" dirty="0">
                <a:solidFill>
                  <a:srgbClr val="FFFFFF"/>
                </a:solidFill>
                <a:latin typeface="Times New Roman" panose="02020603050405020304" pitchFamily="18" charset="0"/>
                <a:ea typeface="Helvetica World"/>
                <a:cs typeface="Times New Roman" panose="02020603050405020304" pitchFamily="18" charset="0"/>
                <a:sym typeface="Helvetica World"/>
              </a:rPr>
              <a:t>From Sign-Up to Success </a:t>
            </a:r>
          </a:p>
        </p:txBody>
      </p:sp>
      <p:sp>
        <p:nvSpPr>
          <p:cNvPr id="8" name="TextBox 9"/>
          <p:cNvSpPr txBox="1"/>
          <p:nvPr/>
        </p:nvSpPr>
        <p:spPr>
          <a:xfrm>
            <a:off x="1124374" y="2486668"/>
            <a:ext cx="5290923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19"/>
              </a:lnSpc>
            </a:pPr>
            <a:r>
              <a:rPr lang="en-US" sz="1799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Comprehensive Internship Capstone </a:t>
            </a:r>
            <a:r>
              <a:rPr lang="en-US" sz="1799" dirty="0" smtClean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Project Consolidating </a:t>
            </a:r>
            <a:r>
              <a:rPr lang="en-US" sz="1799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Feature Engineering, Trend Discovery, and Predictive Churn Modeling</a:t>
            </a:r>
          </a:p>
          <a:p>
            <a:pPr>
              <a:lnSpc>
                <a:spcPts val="2519"/>
              </a:lnSpc>
            </a:pPr>
            <a:endParaRPr lang="en-US" sz="1799" dirty="0">
              <a:solidFill>
                <a:srgbClr val="FFFFFF"/>
              </a:solidFill>
              <a:latin typeface="Times New Roman" panose="02020603050405020304" pitchFamily="18" charset="0"/>
              <a:ea typeface="Source Sans Pro"/>
              <a:cs typeface="Times New Roman" panose="02020603050405020304" pitchFamily="18" charset="0"/>
              <a:sym typeface="Source Sans Pro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1140538" y="3763444"/>
            <a:ext cx="137927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Presented </a:t>
            </a:r>
            <a:r>
              <a:rPr lang="en-US" dirty="0" smtClean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By</a:t>
            </a:r>
          </a:p>
        </p:txBody>
      </p:sp>
      <p:sp>
        <p:nvSpPr>
          <p:cNvPr id="10" name="TextBox 12"/>
          <p:cNvSpPr txBox="1"/>
          <p:nvPr/>
        </p:nvSpPr>
        <p:spPr>
          <a:xfrm>
            <a:off x="1140538" y="4061914"/>
            <a:ext cx="115904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426"/>
              </a:lnSpc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Team 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94234" y="3711968"/>
            <a:ext cx="666019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Source Sans Pro"/>
                <a:cs typeface="Times New Roman" panose="02020603050405020304" pitchFamily="18" charset="0"/>
                <a:sym typeface="Source Sans Pro"/>
              </a:rPr>
              <a:t>Date: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26233" y="3984467"/>
            <a:ext cx="217424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6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ea typeface="Source Sans Pro Bold"/>
                <a:cs typeface="Times New Roman" panose="02020603050405020304" pitchFamily="18" charset="0"/>
                <a:sym typeface="Source Sans Pro Bold"/>
              </a:rPr>
              <a:t>February 6, 2026</a:t>
            </a:r>
          </a:p>
        </p:txBody>
      </p:sp>
    </p:spTree>
    <p:extLst>
      <p:ext uri="{BB962C8B-B14F-4D97-AF65-F5344CB8AC3E}">
        <p14:creationId xmlns:p14="http://schemas.microsoft.com/office/powerpoint/2010/main" val="354632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4193771" y="480628"/>
            <a:ext cx="45719" cy="4190959"/>
            <a:chOff x="0" y="0"/>
            <a:chExt cx="251546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15467" cy="812800"/>
            </a:xfrm>
            <a:custGeom>
              <a:avLst/>
              <a:gdLst/>
              <a:ahLst/>
              <a:cxnLst/>
              <a:rect l="l" t="t" r="r" b="b"/>
              <a:pathLst>
                <a:path w="2515467" h="812800">
                  <a:moveTo>
                    <a:pt x="23507" y="0"/>
                  </a:moveTo>
                  <a:lnTo>
                    <a:pt x="2491960" y="0"/>
                  </a:lnTo>
                  <a:cubicBezTo>
                    <a:pt x="2504943" y="0"/>
                    <a:pt x="2515467" y="10525"/>
                    <a:pt x="2515467" y="23507"/>
                  </a:cubicBezTo>
                  <a:lnTo>
                    <a:pt x="2515467" y="789293"/>
                  </a:lnTo>
                  <a:cubicBezTo>
                    <a:pt x="2515467" y="795527"/>
                    <a:pt x="2512991" y="801506"/>
                    <a:pt x="2508582" y="805915"/>
                  </a:cubicBezTo>
                  <a:cubicBezTo>
                    <a:pt x="2504174" y="810323"/>
                    <a:pt x="2498194" y="812800"/>
                    <a:pt x="2491960" y="812800"/>
                  </a:cubicBezTo>
                  <a:lnTo>
                    <a:pt x="23507" y="812800"/>
                  </a:lnTo>
                  <a:cubicBezTo>
                    <a:pt x="10525" y="812800"/>
                    <a:pt x="0" y="802275"/>
                    <a:pt x="0" y="789293"/>
                  </a:cubicBezTo>
                  <a:lnTo>
                    <a:pt x="0" y="23507"/>
                  </a:lnTo>
                  <a:cubicBezTo>
                    <a:pt x="0" y="10525"/>
                    <a:pt x="10525" y="0"/>
                    <a:pt x="23507" y="0"/>
                  </a:cubicBezTo>
                  <a:close/>
                </a:path>
              </a:pathLst>
            </a:custGeom>
            <a:solidFill>
              <a:srgbClr val="101D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15467" cy="8604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750"/>
                </a:lnSpc>
              </a:pPr>
              <a:endParaRPr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36223" y="2984963"/>
            <a:ext cx="2169428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10"/>
              </a:lnSpc>
            </a:pPr>
            <a:r>
              <a:rPr lang="en-US" sz="1150" b="1">
                <a:solidFill>
                  <a:srgbClr val="FFFFFF"/>
                </a:solidFill>
                <a:latin typeface="Times New Roman" panose="02020603050405020304" pitchFamily="18" charset="0"/>
                <a:ea typeface="Helvetica World Bold"/>
                <a:cs typeface="Times New Roman" panose="02020603050405020304" pitchFamily="18" charset="0"/>
                <a:sym typeface="Helvetica World Bold"/>
              </a:rPr>
              <a:t>MISSION STATEMENT:</a:t>
            </a:r>
          </a:p>
        </p:txBody>
      </p:sp>
      <p:sp>
        <p:nvSpPr>
          <p:cNvPr id="15" name="Text 0"/>
          <p:cNvSpPr/>
          <p:nvPr/>
        </p:nvSpPr>
        <p:spPr>
          <a:xfrm>
            <a:off x="733901" y="646631"/>
            <a:ext cx="2445718" cy="393570"/>
          </a:xfrm>
          <a:prstGeom prst="rect">
            <a:avLst/>
          </a:prstGeom>
          <a:noFill/>
          <a:ln/>
        </p:spPr>
        <p:txBody>
          <a:bodyPr wrap="square" lIns="71438" tIns="71438" rIns="71438" bIns="71438" rtlCol="0" anchor="t">
            <a:spAutoFit/>
          </a:bodyPr>
          <a:lstStyle/>
          <a:p>
            <a:pPr>
              <a:lnSpc>
                <a:spcPct val="80000"/>
              </a:lnSpc>
              <a:spcBef>
                <a:spcPts val="281"/>
              </a:spcBef>
            </a:pPr>
            <a:r>
              <a:rPr lang="en-US" sz="2025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Problem Statement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729" y="1183272"/>
            <a:ext cx="3008682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Excelerate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wants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figure out why some students are dropping off from their chosen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without completion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also develop a machine learning model that can help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likelihood of a learner dropping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course of a chosen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by </a:t>
            </a:r>
            <a:r>
              <a:rPr lang="en-US" sz="1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ustilizing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data.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allow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Excelerate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take proactive measures to retain these students and improve overall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learners’ completion rate.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0"/>
          <p:cNvSpPr/>
          <p:nvPr/>
        </p:nvSpPr>
        <p:spPr>
          <a:xfrm>
            <a:off x="5736870" y="646631"/>
            <a:ext cx="2445718" cy="393570"/>
          </a:xfrm>
          <a:prstGeom prst="rect">
            <a:avLst/>
          </a:prstGeom>
          <a:noFill/>
          <a:ln/>
        </p:spPr>
        <p:txBody>
          <a:bodyPr wrap="square" lIns="71438" tIns="71438" rIns="71438" bIns="71438" rtlCol="0" anchor="t">
            <a:spAutoFit/>
          </a:bodyPr>
          <a:lstStyle/>
          <a:p>
            <a:pPr>
              <a:lnSpc>
                <a:spcPct val="80000"/>
              </a:lnSpc>
              <a:spcBef>
                <a:spcPts val="281"/>
              </a:spcBef>
            </a:pPr>
            <a:r>
              <a:rPr lang="en-US" sz="20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0283" y="1183272"/>
            <a:ext cx="360843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clean, transform and prepare raw data for analysis.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and visualize data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uncover insights for a predictive model development.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train and validate machine learning models that predicts the likelihood of a student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dropping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 from a program or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rewarded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inform decision making.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interpret model results and data findings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insights that drive decisions and strategies for enhancing student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rates.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29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638270" y="576739"/>
            <a:ext cx="6858000" cy="623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and Tools Employed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154883"/>
              </p:ext>
            </p:extLst>
          </p:nvPr>
        </p:nvGraphicFramePr>
        <p:xfrm>
          <a:off x="760490" y="1211289"/>
          <a:ext cx="7535334" cy="3315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/>
                <a:gridCol w="3767667"/>
              </a:tblGrid>
              <a:tr h="531719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Workflow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395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 and Validation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Python (Pandas)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395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Engineering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3954">
                <a:tc>
                  <a:txBody>
                    <a:bodyPr/>
                    <a:lstStyle/>
                    <a:p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 Analysis and Dashboard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395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Modeling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(Scikit-Learn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Library)</a:t>
                      </a:r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395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Forest Classifier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3954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Word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95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638270" y="452169"/>
            <a:ext cx="6858000" cy="623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Review and Preparation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8270" y="1538271"/>
            <a:ext cx="286542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8556 rows and 16 columns.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3804 missing values were found, which is 2.778% of the dataset size.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Columns with over 50% null values were dropped restructuring the dataset to 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8263 rows by 15 columns.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0"/>
          <p:cNvSpPr/>
          <p:nvPr/>
        </p:nvSpPr>
        <p:spPr>
          <a:xfrm>
            <a:off x="760490" y="1038134"/>
            <a:ext cx="2396150" cy="50013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0"/>
          <p:cNvSpPr/>
          <p:nvPr/>
        </p:nvSpPr>
        <p:spPr>
          <a:xfrm>
            <a:off x="5060888" y="1038134"/>
            <a:ext cx="3376942" cy="50013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67270" y="1571868"/>
            <a:ext cx="458105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new columns were created to facilitate predictive modeling: Applied_Flag, Signup_Apply_Delay_Days_Filled, Opportunity_Duration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_(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Days), Ongoing_Opportunity_Flag, Signup_Entry_Lag_Days, Learner_Age, Age_Group, Completed_Flag, Risk_Outcome, Region, Signup_Month, Signup_Year</a:t>
            </a:r>
            <a:b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restructure the dataset to 8263 rows by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 columns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55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760490" y="579421"/>
            <a:ext cx="6858000" cy="623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248785"/>
              </p:ext>
            </p:extLst>
          </p:nvPr>
        </p:nvGraphicFramePr>
        <p:xfrm>
          <a:off x="939468" y="1359623"/>
          <a:ext cx="6991560" cy="27681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5260"/>
                <a:gridCol w="1165260"/>
                <a:gridCol w="1165260"/>
                <a:gridCol w="1165260"/>
                <a:gridCol w="1165260"/>
                <a:gridCol w="1165260"/>
              </a:tblGrid>
              <a:tr h="8378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Dataset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effectLst/>
                        </a:rPr>
                        <a:t>Total Rows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Total Columns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Missing</a:t>
                      </a:r>
                      <a:r>
                        <a:rPr lang="en-US" sz="2000" b="0" baseline="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Value Count</a:t>
                      </a:r>
                      <a:endParaRPr lang="en-US" sz="20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Missing %</a:t>
                      </a:r>
                      <a:endParaRPr lang="en-US" sz="20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Full Duplicates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8378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Raw Dataset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8558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3804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effectLst/>
                        </a:rPr>
                        <a:t>2.778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8378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Processed</a:t>
                      </a:r>
                      <a:r>
                        <a:rPr lang="en-GB" sz="20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20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Dataset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8263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</a:rPr>
                        <a:t>0</a:t>
                      </a:r>
                      <a:endParaRPr lang="en-US" sz="2000" dirty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52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168" y="434907"/>
            <a:ext cx="8216052" cy="524759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7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</a:t>
            </a:r>
            <a:r>
              <a:rPr lang="en-US" sz="27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Dashboard</a:t>
            </a:r>
            <a:r>
              <a:rPr lang="en-US" sz="2700" kern="100" dirty="0" smtClean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416" t="10759"/>
          <a:stretch/>
        </p:blipFill>
        <p:spPr>
          <a:xfrm>
            <a:off x="488886" y="1041149"/>
            <a:ext cx="8102853" cy="349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0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52020"/>
            <a:ext cx="6858000" cy="52475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7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Analysis: </a:t>
            </a:r>
            <a:r>
              <a:rPr lang="en-US" sz="2700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Risk Outcome Distribution 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9826" y="1190678"/>
            <a:ext cx="3672348" cy="3166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marR="78105" indent="-6350">
              <a:lnSpc>
                <a:spcPct val="111000"/>
              </a:lnSpc>
              <a:spcBef>
                <a:spcPts val="0"/>
              </a:spcBef>
              <a:spcAft>
                <a:spcPts val="1245"/>
              </a:spcAft>
            </a:pPr>
            <a:r>
              <a:rPr lang="en-US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dataset as displayed in the chart below shows that while </a:t>
            </a:r>
            <a:r>
              <a:rPr lang="en-US" b="1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47.3%</a:t>
            </a:r>
            <a:r>
              <a:rPr lang="en-US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of students are </a:t>
            </a:r>
            <a:r>
              <a:rPr lang="en-US" b="1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Engaged</a:t>
            </a:r>
            <a:r>
              <a:rPr lang="en-US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 massive </a:t>
            </a:r>
            <a:r>
              <a:rPr lang="en-US" b="1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41.7%</a:t>
            </a:r>
            <a:r>
              <a:rPr lang="en-US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fall </a:t>
            </a:r>
            <a:r>
              <a:rPr lang="en-US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into the </a:t>
            </a:r>
            <a:r>
              <a:rPr lang="en-US" b="1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Rejected</a:t>
            </a:r>
            <a:r>
              <a:rPr lang="en-US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category, and </a:t>
            </a:r>
            <a:r>
              <a:rPr lang="en-US" b="1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8.2%</a:t>
            </a:r>
            <a:r>
              <a:rPr lang="en-US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are explicitly marked as </a:t>
            </a:r>
            <a:r>
              <a:rPr lang="en-US" b="1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Dropout </a:t>
            </a:r>
            <a:r>
              <a:rPr lang="en-US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with only </a:t>
            </a:r>
            <a:r>
              <a:rPr lang="en-US" b="1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0.35% Rewarded</a:t>
            </a:r>
            <a:r>
              <a:rPr lang="en-US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This indicates that the primary "churn" occurs not just from students leaving, but from high barrier-to-entry (rejections). </a:t>
            </a:r>
            <a:endParaRPr lang="en-US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175" y="1283466"/>
            <a:ext cx="4144202" cy="300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1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562" y="1509178"/>
            <a:ext cx="4305896" cy="290553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09600" y="652020"/>
            <a:ext cx="6858000" cy="8571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7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Analysis: </a:t>
            </a:r>
            <a:r>
              <a:rPr lang="en-US" sz="2700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Risk Outcome </a:t>
            </a:r>
            <a:r>
              <a:rPr lang="en-US" sz="2700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Distribution by Opportunity Category 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4277" y="1552386"/>
            <a:ext cx="26255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that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(7.87%) leads to the highest rate of dropout while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the leading opportunities resulting in learner’s getting rewarded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8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257" y="1391483"/>
            <a:ext cx="4348446" cy="325800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09599" y="534325"/>
            <a:ext cx="7909711" cy="8571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7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Analysis: </a:t>
            </a:r>
            <a:r>
              <a:rPr lang="en-US" sz="2700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Risk Outcome Distribution </a:t>
            </a:r>
            <a:r>
              <a:rPr lang="en-US" sz="2700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by Age Group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4866" y="1294844"/>
            <a:ext cx="323812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reveals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 Career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adopters(25.09%) and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19.32%) are the major categories of learner, however, they also contribute the most to the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Dropout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(Early Career-1.25%, Student-1.06%) and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Rewarded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(Early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Career-0.17%, Student-0.16%) rates.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92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257" y="1391483"/>
            <a:ext cx="4348446" cy="325800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09599" y="534325"/>
            <a:ext cx="7909711" cy="85715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7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Analysis: </a:t>
            </a:r>
            <a:r>
              <a:rPr lang="en-US" sz="2700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Risk Outcome Distribution </a:t>
            </a:r>
            <a:r>
              <a:rPr lang="en-US" sz="2700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by Age Group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72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500957" y="534325"/>
            <a:ext cx="8208477" cy="11895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7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Analysis: </a:t>
            </a:r>
            <a:r>
              <a:rPr lang="en-US" sz="2700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Risk Outcome Distribution </a:t>
            </a:r>
            <a:r>
              <a:rPr lang="en-US" sz="2700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by Maximum Period between Learners’ Signup and Application day.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2131" y="1886844"/>
            <a:ext cx="26255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that the maximum period it takes a rewarded learner to apply for an opportunity is 410 days while dropout learners takes 576 days.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414" y="1691220"/>
            <a:ext cx="4479202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86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500957" y="534325"/>
            <a:ext cx="8208477" cy="11895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7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Analysis: </a:t>
            </a:r>
            <a:r>
              <a:rPr lang="en-US" sz="2700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Risk Outcome Distribution </a:t>
            </a:r>
            <a:r>
              <a:rPr lang="en-US" sz="2700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by Maximum Period between Learners’ Signup and Application day.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24" y="1691220"/>
            <a:ext cx="7376911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0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67" y="1149789"/>
            <a:ext cx="7434110" cy="300607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09600" y="625029"/>
            <a:ext cx="8027406" cy="52475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7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Analysis: </a:t>
            </a:r>
            <a:r>
              <a:rPr lang="en-US" sz="2700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Risk Outcome </a:t>
            </a:r>
            <a:r>
              <a:rPr lang="en-US" sz="2700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Distribution by Region 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3613" y="1325529"/>
            <a:ext cx="26255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 reveals dropout Learners’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mostly concentrated in the North America (4.08%) and Asia (3.18) even though, they also contribute the most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rates.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35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/>
          <p:nvPr/>
        </p:nvSpPr>
        <p:spPr>
          <a:xfrm>
            <a:off x="609600" y="625030"/>
            <a:ext cx="7954978" cy="52475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7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Analysis: </a:t>
            </a:r>
            <a:r>
              <a:rPr lang="en-US" sz="2700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Risk Outcome </a:t>
            </a:r>
            <a:r>
              <a:rPr lang="en-US" sz="2700" kern="1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Distribution by Gender 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578" y="1209484"/>
            <a:ext cx="4242295" cy="3290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1251371"/>
            <a:ext cx="313896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 shows that Male learners contributes the most to dropout rate (4.77%) compare with female learners (3.45%), however, male learners (0.21% Rewarded) also persist in staying through to the end of a program than female learners (0.15% Rewarded).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80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6881" y="650620"/>
            <a:ext cx="3999722" cy="50013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redictive model: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075840"/>
              </p:ext>
            </p:extLst>
          </p:nvPr>
        </p:nvGraphicFramePr>
        <p:xfrm>
          <a:off x="3226607" y="1302271"/>
          <a:ext cx="5404210" cy="2859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2105"/>
                <a:gridCol w="2702105"/>
              </a:tblGrid>
              <a:tr h="714795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Rationale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14795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Tree Classifier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14795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Forest Classifier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714795"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2187" y="1497155"/>
            <a:ext cx="25367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</a:t>
            </a:r>
            <a:r>
              <a:rPr lang="en-US" sz="2400" dirty="0" smtClean="0">
                <a:latin typeface="Times New Roman" panose="02020603050405020304" pitchFamily="18" charset="0"/>
              </a:rPr>
              <a:t>e following models as shown in the table were considered during the predictive modeling.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7111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52020"/>
            <a:ext cx="6858000" cy="50013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redictive model: </a:t>
            </a:r>
            <a:r>
              <a:rPr lang="en-US" sz="2000" dirty="0" smtClean="0"/>
              <a:t>Model Structure</a:t>
            </a:r>
            <a:endParaRPr lang="en-US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907" y="1234936"/>
            <a:ext cx="6301248" cy="32589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33917" y="1206269"/>
            <a:ext cx="283169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Random Forest 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87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52020"/>
            <a:ext cx="6858000" cy="50013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redictive model: </a:t>
            </a:r>
            <a:r>
              <a:rPr lang="en-US" sz="2000" dirty="0" smtClean="0"/>
              <a:t>Feature Importance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2985"/>
          <a:stretch/>
        </p:blipFill>
        <p:spPr>
          <a:xfrm>
            <a:off x="3114392" y="1152157"/>
            <a:ext cx="5231394" cy="333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52020"/>
            <a:ext cx="6858000" cy="80791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redictive model: </a:t>
            </a:r>
            <a:r>
              <a:rPr lang="en-US" sz="2000" dirty="0"/>
              <a:t>Model Performance </a:t>
            </a:r>
            <a:r>
              <a:rPr lang="en-US" sz="2000" dirty="0" err="1"/>
              <a:t>Evalution</a:t>
            </a:r>
            <a:r>
              <a:rPr lang="en-US" sz="2000" dirty="0"/>
              <a:t> with confusion </a:t>
            </a:r>
            <a:r>
              <a:rPr lang="en-US" sz="2000" dirty="0" smtClean="0"/>
              <a:t>matrix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506" y="1351292"/>
            <a:ext cx="5596502" cy="29711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906" y="1503692"/>
            <a:ext cx="5596502" cy="297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0490" y="622125"/>
            <a:ext cx="42082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Findings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0490" y="783618"/>
            <a:ext cx="30187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0490" y="1689521"/>
            <a:ext cx="74305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 Engagement: Introduce interactive content and regular feedback to keep students motivated.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Support: Provide additional academic support and personalized assistance to struggling students.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Intervention: Identify at-risk students early and offer targeted support to prevent drop-offs.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Course Design: Make courses more engaging and appropriately challenging to reduce drop-offs.</a:t>
            </a:r>
          </a:p>
        </p:txBody>
      </p:sp>
    </p:spTree>
    <p:extLst>
      <p:ext uri="{BB962C8B-B14F-4D97-AF65-F5344CB8AC3E}">
        <p14:creationId xmlns:p14="http://schemas.microsoft.com/office/powerpoint/2010/main" val="23022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71188" y="1248174"/>
            <a:ext cx="6400800" cy="391517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375"/>
              </a:spcBef>
            </a:pPr>
            <a:r>
              <a:rPr lang="en-US" sz="6300" b="1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THANK YOU FOR 	LISTENING</a:t>
            </a:r>
            <a:r>
              <a:rPr lang="en-US" sz="63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7550</TotalTime>
  <Words>789</Words>
  <Application>Microsoft Office PowerPoint</Application>
  <PresentationFormat>On-screen Show (16:9)</PresentationFormat>
  <Paragraphs>105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Cambria Math</vt:lpstr>
      <vt:lpstr>Garamond</vt:lpstr>
      <vt:lpstr>Helvetica World</vt:lpstr>
      <vt:lpstr>Helvetica World Bold</vt:lpstr>
      <vt:lpstr>Source Sans Pro</vt:lpstr>
      <vt:lpstr>Source Sans Pro Bold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74</cp:revision>
  <dcterms:created xsi:type="dcterms:W3CDTF">2026-02-01T20:09:22Z</dcterms:created>
  <dcterms:modified xsi:type="dcterms:W3CDTF">2026-02-13T06:53:39Z</dcterms:modified>
</cp:coreProperties>
</file>